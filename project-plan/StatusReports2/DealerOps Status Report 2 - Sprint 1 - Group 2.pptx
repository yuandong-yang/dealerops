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e9fb50d-4eb3-4b4e-a9b2-cf73c86edc55}">
          <p14:sldIdLst>
            <p14:sldId id="256"/>
          </p14:sldIdLst>
        </p14:section>
        <p14:section name="Progress" id="{fd7ca6ea-5f07-fad6-5723-4a771ce95abd}">
          <p14:sldIdLst>
            <p14:sldId id="257"/>
            <p14:sldId id="258"/>
            <p14:sldId id="259"/>
          </p14:sldIdLst>
        </p14:section>
        <p14:section name="Architecture" id="{839973b6-a850-90ea-8c17-02c94060646d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Milestones" id="{ddd73604-f79d-cf47-8c02-f5875b11a6e8}">
          <p14:sldIdLst>
            <p14:sldId id="267"/>
            <p14:sldId id="268"/>
            <p14:sldId id="269"/>
          </p14:sldIdLst>
        </p14:section>
        <p14:section name="Demo and next" id="{ad5347ad-e4c1-98a4-47a3-0cafc65c56ca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Sprint 1 ran 12 October to 1 November. This review covers progress, the architectural changes made during the sprint, milestone status, and what we will demonstrate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Headline: the build is effectively finished. What is behind is project-management evidence, not functionality.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 one closes requirement gaps, stream two is the client scope expansion of 21 October, stream three is delivery infrastructure and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module groups. The demo walks the vehicle lifecycle across most of them in one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is unchanged in shape since Sprint 0; what changed inside it is the role model, the audit subsystem and the public buyer-site routes.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row is the one architectural change that still needs an instructor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Consolidating onto one stack was the largest single change of the sprint.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manager/staff split is the main permission change of the sprint: money oversight and audit visibility sit with the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rule changes mark every existing check stale, so ads are rechecked under the new rule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impediments drove these rails: Azure state drift after a portal deletion, and Kudu refusing the first zip upload.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as: construction finished early, governance evidence is the remaining debt.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justify why the remaining sprint time goes to manual acceptance rather than more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Minimum requirement is 50% of core features; all core modules are demonstrable.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message: no new features are planned. The remaining risk is evidence and polish, not functionality.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over to the live demo on the deployed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5740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 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68680" y="352044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 </a:t>
            </a:r>
            <a:endParaRPr lang="en-US" sz="17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68680" y="502920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5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 </a:t>
            </a:r>
            <a:endParaRPr lang="en-US" sz="12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514600"/>
            <a:ext cx="10515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 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92608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 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68680" y="3977640"/>
            <a:ext cx="9601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 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1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3100" b="1" dirty="0">
                <a:solidFill>
                  <a:schemeClr val="tx2"/>
                </a:solidFill>
              </a:rPr>
              <a:t> </a:t>
            </a:r>
            <a:endParaRPr lang="en-US" sz="3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5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 </a:t>
            </a:r>
            <a:endParaRPr lang="en-US" sz="135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3550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DealerOps  ·  Team G2  ·  Status Report 2  ·  Sprint 1 (12 Oct – 1 Nov 2026)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F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 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68680" y="3520440"/>
            <a:ext cx="100584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5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 </a:t>
            </a:r>
            <a:endParaRPr lang="en-US" sz="14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F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25880"/>
            <a:ext cx="2331720" cy="411480"/>
          </a:xfrm>
          <a:prstGeom prst="roundRect">
            <a:avLst>
              <a:gd name="adj" fmla="val 48889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25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F1F2E"/>
                </a:solidFill>
              </a:rPr>
              <a:t>STATUS REPORT 2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20574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DealerOps — Sprint 1 Review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868680" y="3520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Multi-tenant dealership operations platform  ·  Progress, architecture and milestones</a:t>
            </a:r>
            <a:endParaRPr lang="en-US" sz="17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868680" y="50292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EF2F6"/>
                </a:solidFill>
              </a:rPr>
              <a:t>Capstone Group 2 (Team G2)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Yuandong Yang  ·  Bedgel Fadhil Ndam Woukouo  ·  Jackson Warga  ·  Logan Jones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PROJ-309-SDA  ·  Fall 2026 Capstone Project  ·  23 October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2"/>
                </a:solidFill>
              </a:rPr>
              <a:t>Where the project stands</a:t>
            </a:r>
            <a:endParaRPr lang="en-US" sz="3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Feature code is complete against the agreed scope; the sprint now closes on acceptance evidence and polish.</a:t>
            </a:r>
            <a:endParaRPr lang="en-US" sz="1350" dirty="0"/>
          </a:p>
        </p:txBody>
      </p:sp>
      <p:sp>
        <p:nvSpPr>
          <p:cNvPr id="4" name="stat-Core modules"/>
          <p:cNvSpPr/>
          <p:nvPr/>
        </p:nvSpPr>
        <p:spPr>
          <a:xfrm>
            <a:off x="548640" y="1783080"/>
            <a:ext cx="2615184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947672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6F95"/>
                </a:solidFill>
              </a:rPr>
              <a:t>3 + 1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679192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Core modules — DMS, CRM and ad compliance on one data set, plus the AI assistant</a:t>
            </a:r>
            <a:endParaRPr lang="en-US" sz="1150" dirty="0"/>
          </a:p>
        </p:txBody>
      </p:sp>
      <p:sp>
        <p:nvSpPr>
          <p:cNvPr id="7" name="stat-Independentl"/>
          <p:cNvSpPr/>
          <p:nvPr/>
        </p:nvSpPr>
        <p:spPr>
          <a:xfrm>
            <a:off x="3374136" y="1783080"/>
            <a:ext cx="2615184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75304" y="1947672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6F95"/>
                </a:solidFill>
              </a:rPr>
              <a:t>4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575304" y="2679192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Independently deployable services: web, Gateway, Core and a stateless AI service</a:t>
            </a:r>
            <a:endParaRPr lang="en-US" sz="1150" dirty="0"/>
          </a:p>
        </p:txBody>
      </p:sp>
      <p:sp>
        <p:nvSpPr>
          <p:cNvPr id="10" name="stat-End-to-end A"/>
          <p:cNvSpPr/>
          <p:nvPr/>
        </p:nvSpPr>
        <p:spPr>
          <a:xfrm>
            <a:off x="6199632" y="1783080"/>
            <a:ext cx="2615184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947672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8B6F"/>
                </a:solidFill>
              </a:rPr>
              <a:t>353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679192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End-to-end API and UI cases passing on a private stack (22 October)</a:t>
            </a:r>
            <a:endParaRPr lang="en-US" sz="1150" dirty="0"/>
          </a:p>
        </p:txBody>
      </p:sp>
      <p:sp>
        <p:nvSpPr>
          <p:cNvPr id="13" name="stat-Audited writ"/>
          <p:cNvSpPr/>
          <p:nvPr/>
        </p:nvSpPr>
        <p:spPr>
          <a:xfrm>
            <a:off x="9025128" y="1783080"/>
            <a:ext cx="2615184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26296" y="1947672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8B6F"/>
                </a:solidFill>
              </a:rPr>
              <a:t>100%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226296" y="2679192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Audited writes — every sign-in and every change records who, what, when and where</a:t>
            </a:r>
            <a:endParaRPr lang="en-US" sz="1150" dirty="0"/>
          </a:p>
        </p:txBody>
      </p:sp>
      <p:sp>
        <p:nvSpPr>
          <p:cNvPr id="16" name="status-summary"/>
          <p:cNvSpPr/>
          <p:nvPr/>
        </p:nvSpPr>
        <p:spPr>
          <a:xfrm>
            <a:off x="548640" y="379476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14D"/>
                </a:solidFill>
              </a:rPr>
              <a:t>Sprint 1 in one line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343400"/>
            <a:ext cx="10469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0F1F2E"/>
                </a:solidFill>
              </a:rPr>
              <a:t>Delivered: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0F1F2E"/>
                </a:solidFill>
              </a:rPr>
              <a:t>the stack moved onto .NET 10 + React 19 + MySQL 8, seven previously excluded requirements were implemented, the full delivery-extension set shipped (payments, bill of sale, dashboard, reports, buyer site, manager and staff roles, finance-grade audit), and Azure deployment became one command.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0F1F2E"/>
                </a:solidFill>
              </a:rPr>
              <a:t>Behind plan: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0F1F2E"/>
                </a:solidFill>
              </a:rPr>
              <a:t>per-member acceptance walkthroughs, an evidence link on each Jira card, and publication of the research and AI logs.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0F1F2E"/>
                </a:solidFill>
              </a:rPr>
              <a:t>Therefore: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0F1F2E"/>
                </a:solidFill>
              </a:rPr>
              <a:t>Sprint 2 is a hardening sprint — defect hunting, interface refinement and demonstration evidence, not new features.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F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2"/>
                </a:solidFill>
              </a:rPr>
              <a:t>What shipped in Sprint 1</a:t>
            </a:r>
            <a:endParaRPr lang="en-US" sz="3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Three streams of work, all merged to main between 12 and 23 October.</a:t>
            </a:r>
            <a:endParaRPr lang="en-US" sz="1350" dirty="0"/>
          </a:p>
        </p:txBody>
      </p:sp>
      <p:sp>
        <p:nvSpPr>
          <p:cNvPr id="4" name="stream-1"/>
          <p:cNvSpPr/>
          <p:nvPr/>
        </p:nvSpPr>
        <p:spPr>
          <a:xfrm>
            <a:off x="548640" y="1783080"/>
            <a:ext cx="3520440" cy="42062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11680"/>
            <a:ext cx="420624" cy="420624"/>
          </a:xfrm>
          <a:prstGeom prst="ellipse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201168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14D"/>
                </a:solidFill>
              </a:rPr>
              <a:t>Reopened requirements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F2E"/>
                </a:solidFill>
              </a:rPr>
              <a:t>Seven requirements moved from “Won’t” to delivered: DMS-17, CRM-14, CRM-15, AD-15, AD-16 and NFR-07; AUTH-19 superseded.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F2E"/>
                </a:solidFill>
              </a:rPr>
              <a:t>Soft delete that keeps sales and audit history, the sales-funnel report, an admin-editable OMVIC rule set, labelled simulated publishing, and Gateway rate limits.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F2E"/>
                </a:solidFill>
              </a:rPr>
              <a:t>Each item carries its own evidence record.</a:t>
            </a:r>
            <a:endParaRPr lang="en-US" sz="1150" dirty="0"/>
          </a:p>
        </p:txBody>
      </p:sp>
      <p:sp>
        <p:nvSpPr>
          <p:cNvPr id="9" name="stream-2"/>
          <p:cNvSpPr/>
          <p:nvPr/>
        </p:nvSpPr>
        <p:spPr>
          <a:xfrm>
            <a:off x="4334256" y="1783080"/>
            <a:ext cx="3520440" cy="42062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0288" y="2011680"/>
            <a:ext cx="420624" cy="42062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0288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2E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38928" y="201168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14D"/>
                </a:solidFill>
              </a:rPr>
              <a:t>Delivery extensions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08576" y="26060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F2E"/>
                </a:solidFill>
              </a:rPr>
              <a:t>Optional vehicle fields, payment ledger and printable bill of sale.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F2E"/>
                </a:solidFill>
              </a:rPr>
              <a:t>KPI dashboard, lead stage history and workshop settlement reporting.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F2E"/>
                </a:solidFill>
              </a:rPr>
              <a:t>Public buyer site turning each inquiry into a sales lead, plus a disclaimer page.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F2E"/>
                </a:solidFill>
              </a:rPr>
              <a:t>Dealership manager and staff roles, and audit held to a finance standard.</a:t>
            </a:r>
            <a:endParaRPr lang="en-US" sz="1150" dirty="0"/>
          </a:p>
        </p:txBody>
      </p:sp>
      <p:sp>
        <p:nvSpPr>
          <p:cNvPr id="14" name="stream-3"/>
          <p:cNvSpPr/>
          <p:nvPr/>
        </p:nvSpPr>
        <p:spPr>
          <a:xfrm>
            <a:off x="8119872" y="1783080"/>
            <a:ext cx="3520440" cy="42062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75904" y="2011680"/>
            <a:ext cx="420624" cy="420624"/>
          </a:xfrm>
          <a:prstGeom prst="ellipse">
            <a:avLst/>
          </a:prstGeom>
          <a:solidFill>
            <a:srgbClr val="2E8B6F"/>
          </a:solidFill>
          <a:ln w="12700">
            <a:solidFill>
              <a:srgbClr val="2E8B6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75904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924544" y="201168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14D"/>
                </a:solidFill>
              </a:rPr>
              <a:t>Platform and delivery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26060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F2E"/>
                </a:solidFill>
              </a:rPr>
              <a:t>One-command Azure release from a clean, pushed checkout.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F2E"/>
                </a:solidFill>
              </a:rPr>
              <a:t>Local database published to the cloud with an automatic backup taken first.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F2E"/>
                </a:solidFill>
              </a:rPr>
              <a:t>Ten browser defects found, fixed and re-checked in a single day.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F2E"/>
                </a:solidFill>
              </a:rPr>
              <a:t>Scope reconciled against the client’s own documents.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F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2"/>
                </a:solidFill>
              </a:rPr>
              <a:t>Delivered product scope</a:t>
            </a:r>
            <a:endParaRPr lang="en-US" sz="3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Every module below is implemented and runnable today — this is what the live demo draws from.</a:t>
            </a:r>
            <a:endParaRPr lang="en-US" sz="1350" dirty="0"/>
          </a:p>
        </p:txBody>
      </p:sp>
      <p:sp>
        <p:nvSpPr>
          <p:cNvPr id="4" name="mod-0"/>
          <p:cNvSpPr/>
          <p:nvPr/>
        </p:nvSpPr>
        <p:spPr>
          <a:xfrm>
            <a:off x="548640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75688"/>
            <a:ext cx="146304" cy="14630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8992" y="1965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14D"/>
                </a:solidFill>
              </a:rPr>
              <a:t>Inventory · DMS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04872"/>
            <a:ext cx="3090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F1F2E"/>
                </a:solidFill>
              </a:rPr>
              <a:t>Eight specified fields, NHTSA VIN decode, sale recording with sold-field lock, soft delete that keeps history.</a:t>
            </a:r>
            <a:endParaRPr lang="en-US" sz="1150" dirty="0"/>
          </a:p>
        </p:txBody>
      </p:sp>
      <p:sp>
        <p:nvSpPr>
          <p:cNvPr id="8" name="mod-1"/>
          <p:cNvSpPr/>
          <p:nvPr/>
        </p:nvSpPr>
        <p:spPr>
          <a:xfrm>
            <a:off x="4334256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08576" y="2075688"/>
            <a:ext cx="146304" cy="14630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4608" y="1965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14D"/>
                </a:solidFill>
              </a:rPr>
              <a:t>Customers · CRM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608576" y="2404872"/>
            <a:ext cx="3090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F1F2E"/>
                </a:solidFill>
              </a:rPr>
              <a:t>Required contact fields, one vehicle to one customer, linked vehicles and leads in the customer drawer.</a:t>
            </a:r>
            <a:endParaRPr lang="en-US" sz="1150" dirty="0"/>
          </a:p>
        </p:txBody>
      </p:sp>
      <p:sp>
        <p:nvSpPr>
          <p:cNvPr id="12" name="mod-2"/>
          <p:cNvSpPr/>
          <p:nvPr/>
        </p:nvSpPr>
        <p:spPr>
          <a:xfrm>
            <a:off x="8119872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94192" y="2075688"/>
            <a:ext cx="146304" cy="14630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50224" y="1965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14D"/>
                </a:solidFill>
              </a:rPr>
              <a:t>Leads and reports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394192" y="2404872"/>
            <a:ext cx="3090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F1F2E"/>
                </a:solidFill>
              </a:rPr>
              <a:t>Five-stage pipeline with follow-up dates and append-only notes; funnel, sales and workshop reports; KPI dashboard.</a:t>
            </a:r>
            <a:endParaRPr lang="en-US" sz="1150" dirty="0"/>
          </a:p>
        </p:txBody>
      </p:sp>
      <p:sp>
        <p:nvSpPr>
          <p:cNvPr id="16" name="mod-3"/>
          <p:cNvSpPr/>
          <p:nvPr/>
        </p:nvSpPr>
        <p:spPr>
          <a:xfrm>
            <a:off x="54864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270248"/>
            <a:ext cx="146304" cy="14630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78992" y="4160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14D"/>
                </a:solidFill>
              </a:rPr>
              <a:t>Reconditioning and photos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599432"/>
            <a:ext cx="3090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F1F2E"/>
                </a:solidFill>
              </a:rPr>
              <a:t>Work orders whose completion cost rolls into repair cost and blocks a sale while open; Image Studio with enhancement presets.</a:t>
            </a:r>
            <a:endParaRPr lang="en-US" sz="1150" dirty="0"/>
          </a:p>
        </p:txBody>
      </p:sp>
      <p:sp>
        <p:nvSpPr>
          <p:cNvPr id="20" name="mod-4"/>
          <p:cNvSpPr/>
          <p:nvPr/>
        </p:nvSpPr>
        <p:spPr>
          <a:xfrm>
            <a:off x="4334256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08576" y="4270248"/>
            <a:ext cx="146304" cy="14630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64608" y="4160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14D"/>
                </a:solidFill>
              </a:rPr>
              <a:t>Payments and bill of sale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608576" y="4599432"/>
            <a:ext cx="3090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F1F2E"/>
                </a:solidFill>
              </a:rPr>
              <a:t>Ledger of payments taken at the dealership, balance due, and a printable bill of sale template.</a:t>
            </a:r>
            <a:endParaRPr lang="en-US" sz="1150" dirty="0"/>
          </a:p>
        </p:txBody>
      </p:sp>
      <p:sp>
        <p:nvSpPr>
          <p:cNvPr id="24" name="mod-5"/>
          <p:cNvSpPr/>
          <p:nvPr/>
        </p:nvSpPr>
        <p:spPr>
          <a:xfrm>
            <a:off x="8119872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94192" y="4270248"/>
            <a:ext cx="146304" cy="14630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50224" y="4160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14D"/>
                </a:solidFill>
              </a:rPr>
              <a:t>Ads, AI and buyer site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8394192" y="4599432"/>
            <a:ext cx="3090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F1F2E"/>
                </a:solidFill>
              </a:rPr>
              <a:t>OMVIC checklist plus a real AI review, Ready and TXT export gating, and a public buyer site fed only by passed ads.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F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5146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PART TWO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9260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Architectural updates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68680" y="39776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What changed in the system design during Sprint 1, and why.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2"/>
                </a:solidFill>
              </a:rPr>
              <a:t>Four services, one public entry point</a:t>
            </a:r>
            <a:endParaRPr lang="en-US" sz="3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The browser talks to the Gateway only. Core owns every business rule and the single database; the AI service holds no data.</a:t>
            </a:r>
            <a:endParaRPr lang="en-US" sz="1350" dirty="0"/>
          </a:p>
        </p:txBody>
      </p:sp>
      <p:sp>
        <p:nvSpPr>
          <p:cNvPr id="4" name="svc-dealer-web"/>
          <p:cNvSpPr/>
          <p:nvPr/>
        </p:nvSpPr>
        <p:spPr>
          <a:xfrm>
            <a:off x="640080" y="196596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10312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dealer-web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450592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2F6"/>
                </a:solidFill>
              </a:rPr>
              <a:t>React 19 SPA</a:t>
            </a:r>
            <a:endParaRPr lang="en-US" sz="1050" dirty="0"/>
          </a:p>
        </p:txBody>
      </p:sp>
      <p:sp>
        <p:nvSpPr>
          <p:cNvPr id="7" name="svc-dealer-gateway"/>
          <p:cNvSpPr/>
          <p:nvPr/>
        </p:nvSpPr>
        <p:spPr>
          <a:xfrm>
            <a:off x="3474720" y="196596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16314D"/>
          </a:solidFill>
          <a:ln w="12700">
            <a:solidFill>
              <a:srgbClr val="1631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4448" y="210312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dealer-gateway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3584448" y="2450592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2F6"/>
                </a:solidFill>
              </a:rPr>
              <a:t>JWT · CORS · rate limits</a:t>
            </a:r>
            <a:endParaRPr lang="en-US" sz="1050" dirty="0"/>
          </a:p>
        </p:txBody>
      </p:sp>
      <p:sp>
        <p:nvSpPr>
          <p:cNvPr id="10" name="svc-dealer-core"/>
          <p:cNvSpPr/>
          <p:nvPr/>
        </p:nvSpPr>
        <p:spPr>
          <a:xfrm>
            <a:off x="6309360" y="196596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16314D"/>
          </a:solidFill>
          <a:ln w="12700">
            <a:solidFill>
              <a:srgbClr val="1631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9088" y="210312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dealer-core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19088" y="2450592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2F6"/>
                </a:solidFill>
              </a:rPr>
              <a:t>Business rules · tenancy · audit</a:t>
            </a:r>
            <a:endParaRPr lang="en-US" sz="1050" dirty="0"/>
          </a:p>
        </p:txBody>
      </p:sp>
      <p:sp>
        <p:nvSpPr>
          <p:cNvPr id="13" name="svc-ai-service"/>
          <p:cNvSpPr/>
          <p:nvPr/>
        </p:nvSpPr>
        <p:spPr>
          <a:xfrm>
            <a:off x="9144000" y="196596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53728" y="210312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ai-service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9253728" y="2450592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2F6"/>
                </a:solidFill>
              </a:rPr>
              <a:t>Stateless model access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71800" y="2487168"/>
            <a:ext cx="457200" cy="0"/>
          </a:xfrm>
          <a:prstGeom prst="line">
            <a:avLst/>
          </a:prstGeom>
          <a:noFill/>
          <a:ln w="28575">
            <a:solidFill>
              <a:srgbClr val="2E6F9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806440" y="2487168"/>
            <a:ext cx="457200" cy="0"/>
          </a:xfrm>
          <a:prstGeom prst="line">
            <a:avLst/>
          </a:prstGeom>
          <a:noFill/>
          <a:ln w="28575">
            <a:solidFill>
              <a:srgbClr val="2E6F9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641080" y="2487168"/>
            <a:ext cx="457200" cy="0"/>
          </a:xfrm>
          <a:prstGeom prst="line">
            <a:avLst/>
          </a:prstGeom>
          <a:noFill/>
          <a:ln w="28575">
            <a:solidFill>
              <a:srgbClr val="2E6F95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2834640" y="16276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F93"/>
                </a:solidFill>
              </a:rPr>
              <a:t>HTTPS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1627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F93"/>
                </a:solidFill>
              </a:rPr>
              <a:t>X-Dealer-Internal</a:t>
            </a:r>
            <a:endParaRPr lang="en-US" sz="950" dirty="0"/>
          </a:p>
        </p:txBody>
      </p:sp>
      <p:sp>
        <p:nvSpPr>
          <p:cNvPr id="21" name="db"/>
          <p:cNvSpPr/>
          <p:nvPr/>
        </p:nvSpPr>
        <p:spPr>
          <a:xfrm>
            <a:off x="6309360" y="388620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2E8B6F"/>
          </a:solidFill>
          <a:ln w="12700">
            <a:solidFill>
              <a:srgbClr val="2E8B6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38862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MySQL 8 · dealer_core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52360" y="3063240"/>
            <a:ext cx="0" cy="777240"/>
          </a:xfrm>
          <a:prstGeom prst="line">
            <a:avLst/>
          </a:prstGeom>
          <a:noFill/>
          <a:ln w="28575">
            <a:solidFill>
              <a:srgbClr val="2E8B6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783080" y="5074920"/>
            <a:ext cx="4480560" cy="0"/>
          </a:xfrm>
          <a:prstGeom prst="line">
            <a:avLst/>
          </a:prstGeom>
          <a:noFill/>
          <a:ln w="25400">
            <a:solidFill>
              <a:srgbClr val="C05746"/>
            </a:solidFill>
            <a:prstDash val="dash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783080" y="3063240"/>
            <a:ext cx="0" cy="2011680"/>
          </a:xfrm>
          <a:prstGeom prst="line">
            <a:avLst/>
          </a:prstGeom>
          <a:noFill/>
          <a:ln w="25400">
            <a:solidFill>
              <a:srgbClr val="C05746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2103120" y="5166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746"/>
                </a:solidFill>
              </a:rPr>
              <a:t>Blocked: the browser can never reach Core, the AI service or the database directly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06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F93"/>
                </a:solidFill>
              </a:rPr>
              <a:t>Figure 1 · Allowed request path in blue; the dashed red path must fail.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F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2"/>
                </a:solidFill>
              </a:rPr>
              <a:t>Key architecture decisions</a:t>
            </a:r>
            <a:endParaRPr lang="en-US" sz="3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Each decision is recorded with its reason, so later changes argue against the reason rather than the choice.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683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Decision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Reason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F2E"/>
                          </a:solidFill>
                        </a:rPr>
                        <a:t>One MySQL database for DMS, CRM and ads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F2E"/>
                          </a:solidFill>
                        </a:rPr>
                        <a:t>The specification requires the three modules to work on the same dealership. One transaction can lock sale fields, invalidate an ad check and write the audit row together.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F2E"/>
                          </a:solidFill>
                        </a:rPr>
                        <a:t>Synchronous REST, no message bus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F2E"/>
                          </a:solidFill>
                        </a:rPr>
                        <a:t>No requirement needs asynchronous work; a queue would add an outbox, retries and failure modes without a business benefit.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F2E"/>
                          </a:solidFill>
                        </a:rPr>
                        <a:t>Fixed rules run before the AI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F2E"/>
                          </a:solidFill>
                        </a:rPr>
                        <a:t>A deterministic hard block is cheaper and explainable, and guarantees the model can never approve an ad the checklist already rejected.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F2E"/>
                          </a:solidFill>
                        </a:rPr>
                        <a:t>Stateless AI service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F2E"/>
                          </a:solidFill>
                        </a:rPr>
                        <a:t>The model provider is swapped by configuration, and AI never sees the database or another tenant.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F2E"/>
                          </a:solidFill>
                        </a:rPr>
                        <a:t>Gateway as the only public origin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F2E"/>
                          </a:solidFill>
                        </a:rPr>
                        <a:t>One place for CORS, token validation and rate limits; Core and the AI service stay private.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F2E"/>
                          </a:solidFill>
                        </a:rPr>
                        <a:t>Terraform and App Service instead of containers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F2E"/>
                          </a:solidFill>
                        </a:rPr>
                        <a:t>Recorded as decision NN-05. Services deploy as .NET 10 app packages with secrets resolved from Key Vault.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F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2"/>
                </a:solidFill>
              </a:rPr>
              <a:t>Technology stack</a:t>
            </a:r>
            <a:endParaRPr lang="en-US" sz="3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The active stack after the Sprint 1 consolidation. The retired Java and Vue implementations are no longer part of delivery.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91840"/>
                <a:gridCol w="58795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Frontend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React 19, TypeScript, Vite, React Router, Zustand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One HTTP client pointed at the Gateway URL from configuration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Gateway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.NET 10 / ASP.NET Core with YARP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Reverse proxy, JWT validation, rate limiting, health aggregation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Core service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.NET 10 / ASP.NET Core, EF Core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Grouped by business area: vehicle, customer, lead, work order, photo, payment, listing, compliance, audit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AI service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.NET 10 / ASP.NET Core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Provider, model and key come from configuration; no database access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Database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MySQL 8 (Azure Database for MySQL Flexible Server)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TLS required in the cloud; 7-day automatic backups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Identity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Local password (BCrypt), Google ID token, Firebase Auth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DealerOps always issues its own JWT; providers never grant roles or dealerships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Infrastructure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Terraform, Azure Linux App Service, Key Vault, App Insights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No containers; services deploy as .NET 10 app packages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CI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GitHub Actions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One workflow per service plus Terraform validate, on every pull request and on main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F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2"/>
                </a:solidFill>
              </a:rPr>
              <a:t>New this sprint: manager and staff separation</a:t>
            </a:r>
            <a:endParaRPr lang="en-US" sz="3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Authentication still issues only two token roles. The dealership level — manager or staff — is read from the membership on every call.</a:t>
            </a:r>
            <a:endParaRPr lang="en-US" sz="1350" dirty="0"/>
          </a:p>
        </p:txBody>
      </p:sp>
      <p:sp>
        <p:nvSpPr>
          <p:cNvPr id="4" name="role-0"/>
          <p:cNvSpPr/>
          <p:nvPr/>
        </p:nvSpPr>
        <p:spPr>
          <a:xfrm>
            <a:off x="548640" y="1783080"/>
            <a:ext cx="3520440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rolehead-0"/>
          <p:cNvSpPr/>
          <p:nvPr/>
        </p:nvSpPr>
        <p:spPr>
          <a:xfrm>
            <a:off x="548640" y="178308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16314D"/>
          </a:solidFill>
          <a:ln w="12700">
            <a:solidFill>
              <a:srgbClr val="1631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Platform Admin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146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F2E"/>
                </a:solidFill>
              </a:rPr>
              <a:t>Opens dealerships, creates and binds accounts, resets passwords.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F2E"/>
                </a:solidFill>
              </a:rPr>
              <a:t>Promotes and demotes managers; edits the global OMVIC rules.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F2E"/>
                </a:solidFill>
              </a:rPr>
              <a:t>Reads the platform audit log.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F2E"/>
                </a:solidFill>
              </a:rPr>
              <a:t>Receives 403 on every business endpoint — never sees dealership data.</a:t>
            </a:r>
            <a:endParaRPr lang="en-US" sz="1150" dirty="0"/>
          </a:p>
        </p:txBody>
      </p:sp>
      <p:sp>
        <p:nvSpPr>
          <p:cNvPr id="8" name="role-1"/>
          <p:cNvSpPr/>
          <p:nvPr/>
        </p:nvSpPr>
        <p:spPr>
          <a:xfrm>
            <a:off x="4334256" y="1783080"/>
            <a:ext cx="3520440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olehead-1"/>
          <p:cNvSpPr/>
          <p:nvPr/>
        </p:nvSpPr>
        <p:spPr>
          <a:xfrm>
            <a:off x="4334256" y="178308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2856" y="178308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Dealership Manager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25146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F2E"/>
                </a:solidFill>
              </a:rPr>
              <a:t>Everything staff can do.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F2E"/>
                </a:solidFill>
              </a:rPr>
              <a:t>Team page and join-request inbox; removes staff; edits the dealership profile.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F2E"/>
                </a:solidFill>
              </a:rPr>
              <a:t>Reads and corrects the payment ledger.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F2E"/>
                </a:solidFill>
              </a:rPr>
              <a:t>Reads all audit data of the dealership.</a:t>
            </a:r>
            <a:endParaRPr lang="en-US" sz="1150" dirty="0"/>
          </a:p>
        </p:txBody>
      </p:sp>
      <p:sp>
        <p:nvSpPr>
          <p:cNvPr id="12" name="role-2"/>
          <p:cNvSpPr/>
          <p:nvPr/>
        </p:nvSpPr>
        <p:spPr>
          <a:xfrm>
            <a:off x="8119872" y="1783080"/>
            <a:ext cx="3520440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rolehead-2"/>
          <p:cNvSpPr/>
          <p:nvPr/>
        </p:nvSpPr>
        <p:spPr>
          <a:xfrm>
            <a:off x="8119872" y="178308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2E8B6F"/>
          </a:solidFill>
          <a:ln w="12700">
            <a:solidFill>
              <a:srgbClr val="2E8B6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48472" y="178308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Dealership Staff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75904" y="25146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F2E"/>
                </a:solidFill>
              </a:rPr>
              <a:t>Full read and write on daily business data: DMS, CRM, leads, ads, work orders, photos, assistant.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F2E"/>
                </a:solidFill>
              </a:rPr>
              <a:t>May record a payment, but cannot see or change the ledger.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F2E"/>
                </a:solidFill>
              </a:rPr>
              <a:t>Sees no audit data at all.</a:t>
            </a:r>
            <a:endParaRPr lang="en-US" sz="1150" dirty="0"/>
          </a:p>
        </p:txBody>
      </p:sp>
      <p:sp>
        <p:nvSpPr>
          <p:cNvPr id="16" name="tenancy-note"/>
          <p:cNvSpPr/>
          <p:nvPr/>
        </p:nvSpPr>
        <p:spPr>
          <a:xfrm>
            <a:off x="548640" y="50292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314D"/>
          </a:solidFill>
          <a:ln w="12700">
            <a:solidFill>
              <a:srgbClr val="1631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138928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2A541"/>
                </a:solidFill>
              </a:rPr>
              <a:t>Tenancy is always derived on the server.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Core loads the signed-in user’s single active membership and filters every query by that dealership. A dealerId sent by the browser is ignored; another dealership’s record returns 404, so a response never reveals that it exists.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F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2"/>
                </a:solidFill>
              </a:rPr>
              <a:t>Ad compliance: fixed rules before the AI</a:t>
            </a:r>
            <a:endParaRPr lang="en-US" sz="3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A deterministic OMVIC rule engine runs first. The model only adds advisory notes and can never turn a blocked ad into a passed one.</a:t>
            </a:r>
            <a:endParaRPr lang="en-US" sz="1350" dirty="0"/>
          </a:p>
        </p:txBody>
      </p:sp>
      <p:sp>
        <p:nvSpPr>
          <p:cNvPr id="4" name="step-0"/>
          <p:cNvSpPr/>
          <p:nvPr/>
        </p:nvSpPr>
        <p:spPr>
          <a:xfrm>
            <a:off x="548640" y="1874520"/>
            <a:ext cx="1691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1993392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14D"/>
                </a:solidFill>
              </a:rPr>
              <a:t>Run check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2359152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F1F2E"/>
                </a:solidFill>
              </a:rPr>
              <a:t>Staff submit the ad with its version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58568" y="2560320"/>
            <a:ext cx="118872" cy="0"/>
          </a:xfrm>
          <a:prstGeom prst="line">
            <a:avLst/>
          </a:prstGeom>
          <a:noFill/>
          <a:ln w="25400">
            <a:solidFill>
              <a:srgbClr val="2E6F95"/>
            </a:solidFill>
            <a:prstDash val="solid"/>
            <a:tailEnd type="triangle"/>
          </a:ln>
        </p:spPr>
      </p:sp>
      <p:sp>
        <p:nvSpPr>
          <p:cNvPr id="8" name="step-1"/>
          <p:cNvSpPr/>
          <p:nvPr/>
        </p:nvSpPr>
        <p:spPr>
          <a:xfrm>
            <a:off x="2395728" y="1874520"/>
            <a:ext cx="1691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993392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14D"/>
                </a:solidFill>
              </a:rPr>
              <a:t>Guard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2359152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F1F2E"/>
                </a:solidFill>
              </a:rPr>
              <a:t>Tenant and optimistic-lock checks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05656" y="2560320"/>
            <a:ext cx="118872" cy="0"/>
          </a:xfrm>
          <a:prstGeom prst="line">
            <a:avLst/>
          </a:prstGeom>
          <a:noFill/>
          <a:ln w="25400">
            <a:solidFill>
              <a:srgbClr val="2E6F95"/>
            </a:solidFill>
            <a:prstDash val="solid"/>
            <a:tailEnd type="triangle"/>
          </a:ln>
        </p:spPr>
      </p:sp>
      <p:sp>
        <p:nvSpPr>
          <p:cNvPr id="12" name="step-2"/>
          <p:cNvSpPr/>
          <p:nvPr/>
        </p:nvSpPr>
        <p:spPr>
          <a:xfrm>
            <a:off x="4242816" y="1874520"/>
            <a:ext cx="1691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61688" y="1993392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14D"/>
                </a:solidFill>
              </a:rPr>
              <a:t>Fixed OMVIC rules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361688" y="2359152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F1F2E"/>
                </a:solidFill>
              </a:rPr>
              <a:t>Ad text, public vehicle fields, dealer profile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52744" y="2560320"/>
            <a:ext cx="118872" cy="0"/>
          </a:xfrm>
          <a:prstGeom prst="line">
            <a:avLst/>
          </a:prstGeom>
          <a:noFill/>
          <a:ln w="25400">
            <a:solidFill>
              <a:srgbClr val="2E6F95"/>
            </a:solidFill>
            <a:prstDash val="solid"/>
            <a:tailEnd type="triangle"/>
          </a:ln>
        </p:spPr>
      </p:sp>
      <p:sp>
        <p:nvSpPr>
          <p:cNvPr id="16" name="step-3"/>
          <p:cNvSpPr/>
          <p:nvPr/>
        </p:nvSpPr>
        <p:spPr>
          <a:xfrm>
            <a:off x="6089904" y="18745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08776" y="1993392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14D"/>
                </a:solidFill>
              </a:rPr>
              <a:t>Any BLOCK?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208776" y="2359152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F1F2E"/>
                </a:solidFill>
              </a:rPr>
              <a:t>Yes → saved BLOCKED, model not called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99832" y="2560320"/>
            <a:ext cx="118872" cy="0"/>
          </a:xfrm>
          <a:prstGeom prst="line">
            <a:avLst/>
          </a:prstGeom>
          <a:noFill/>
          <a:ln w="25400">
            <a:solidFill>
              <a:srgbClr val="2E6F95"/>
            </a:solidFill>
            <a:prstDash val="solid"/>
            <a:tailEnd type="triangle"/>
          </a:ln>
        </p:spPr>
      </p:sp>
      <p:sp>
        <p:nvSpPr>
          <p:cNvPr id="20" name="step-4"/>
          <p:cNvSpPr/>
          <p:nvPr/>
        </p:nvSpPr>
        <p:spPr>
          <a:xfrm>
            <a:off x="7936992" y="1874520"/>
            <a:ext cx="1691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55864" y="1993392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14D"/>
                </a:solidFill>
              </a:rPr>
              <a:t>AI review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055864" y="2359152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F1F2E"/>
                </a:solidFill>
              </a:rPr>
              <a:t>15-second budget through the AI service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646920" y="2560320"/>
            <a:ext cx="118872" cy="0"/>
          </a:xfrm>
          <a:prstGeom prst="line">
            <a:avLst/>
          </a:prstGeom>
          <a:noFill/>
          <a:ln w="25400">
            <a:solidFill>
              <a:srgbClr val="2E6F95"/>
            </a:solidFill>
            <a:prstDash val="solid"/>
            <a:tailEnd type="triangle"/>
          </a:ln>
        </p:spPr>
      </p:sp>
      <p:sp>
        <p:nvSpPr>
          <p:cNvPr id="24" name="step-5"/>
          <p:cNvSpPr/>
          <p:nvPr/>
        </p:nvSpPr>
        <p:spPr>
          <a:xfrm>
            <a:off x="9784080" y="1874520"/>
            <a:ext cx="1691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02952" y="1993392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14D"/>
                </a:solidFill>
              </a:rPr>
              <a:t>Persist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902952" y="2359152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F1F2E"/>
                </a:solidFill>
              </a:rPr>
              <a:t>Success → PASSED. Failure → AI_UNAVAILABLE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14D"/>
                </a:solidFill>
              </a:rPr>
              <a:t>Check states shown to the user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3931920"/>
            <a:ext cx="1600200" cy="338328"/>
          </a:xfrm>
          <a:prstGeom prst="roundRect">
            <a:avLst>
              <a:gd name="adj" fmla="val 48649"/>
            </a:avLst>
          </a:prstGeom>
          <a:solidFill>
            <a:srgbClr val="2E8B6F"/>
          </a:solidFill>
          <a:ln w="12700">
            <a:solidFill>
              <a:srgbClr val="2E8B6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931920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PASSED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2286000" y="3931920"/>
            <a:ext cx="6766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2E"/>
                </a:solidFill>
              </a:rPr>
              <a:t>Rules passed and the AI review succeeded for this ad version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144000" y="3931920"/>
            <a:ext cx="24963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F93"/>
                </a:solidFill>
              </a:rPr>
              <a:t>Ready and TXT export allowed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361688"/>
            <a:ext cx="1600200" cy="338328"/>
          </a:xfrm>
          <a:prstGeom prst="roundRect">
            <a:avLst>
              <a:gd name="adj" fmla="val 48649"/>
            </a:avLst>
          </a:prstGeom>
          <a:solidFill>
            <a:srgbClr val="C05746"/>
          </a:solidFill>
          <a:ln w="12700">
            <a:solidFill>
              <a:srgbClr val="C0574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4361688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BLOCKED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2286000" y="4361688"/>
            <a:ext cx="6766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2E"/>
                </a:solidFill>
              </a:rPr>
              <a:t>A hard rule failed; the model was never called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144000" y="4361688"/>
            <a:ext cx="24963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F93"/>
                </a:solidFill>
              </a:rPr>
              <a:t>Export refused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791456"/>
            <a:ext cx="1600200" cy="338328"/>
          </a:xfrm>
          <a:prstGeom prst="roundRect">
            <a:avLst>
              <a:gd name="adj" fmla="val 48649"/>
            </a:avLst>
          </a:prstGeom>
          <a:solidFill>
            <a:srgbClr val="6B7F93"/>
          </a:solidFill>
          <a:ln w="12700">
            <a:solidFill>
              <a:srgbClr val="6B7F9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4791456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NEEDS AI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2286000" y="4791456"/>
            <a:ext cx="6766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2E"/>
                </a:solidFill>
              </a:rPr>
              <a:t>No check yet, or the ad changed after a blocked or unavailable result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9144000" y="4791456"/>
            <a:ext cx="24963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F93"/>
                </a:solidFill>
              </a:rPr>
              <a:t>Export refused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5221224"/>
            <a:ext cx="1600200" cy="338328"/>
          </a:xfrm>
          <a:prstGeom prst="roundRect">
            <a:avLst>
              <a:gd name="adj" fmla="val 48649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8640" y="5221224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F2E"/>
                </a:solidFill>
              </a:rPr>
              <a:t>STALE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2286000" y="5221224"/>
            <a:ext cx="6766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2E"/>
                </a:solidFill>
              </a:rPr>
              <a:t>Was passed, but the ad text or the vehicle condition changed since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9144000" y="5221224"/>
            <a:ext cx="24963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F93"/>
                </a:solidFill>
              </a:rPr>
              <a:t>Export refused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5650992"/>
            <a:ext cx="1600200" cy="338328"/>
          </a:xfrm>
          <a:prstGeom prst="roundRect">
            <a:avLst>
              <a:gd name="adj" fmla="val 48649"/>
            </a:avLst>
          </a:prstGeom>
          <a:solidFill>
            <a:srgbClr val="6B7F93"/>
          </a:solidFill>
          <a:ln w="12700">
            <a:solidFill>
              <a:srgbClr val="6B7F9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48640" y="5650992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 UNAVAILABLE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2286000" y="5650992"/>
            <a:ext cx="6766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2E"/>
                </a:solidFill>
              </a:rPr>
              <a:t>Rules passed but the model failed or timed out — never shown as a pass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9144000" y="5650992"/>
            <a:ext cx="24963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F93"/>
                </a:solidFill>
              </a:rPr>
              <a:t>Export refused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F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2"/>
                </a:solidFill>
              </a:rPr>
              <a:t>Deployment and operations</a:t>
            </a:r>
            <a:endParaRPr lang="en-US" sz="3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The release path became one command during this sprint, with the safety rails that earlier failures showed were needed.</a:t>
            </a:r>
            <a:endParaRPr lang="en-US" sz="1350" dirty="0"/>
          </a:p>
        </p:txBody>
      </p:sp>
      <p:sp>
        <p:nvSpPr>
          <p:cNvPr id="4" name="azure"/>
          <p:cNvSpPr/>
          <p:nvPr/>
        </p:nvSpPr>
        <p:spPr>
          <a:xfrm>
            <a:off x="548640" y="1783080"/>
            <a:ext cx="5394960" cy="42062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14D"/>
                </a:solidFill>
              </a:rPr>
              <a:t>Azure resource group, created by Terraform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41248" y="2487168"/>
            <a:ext cx="146304" cy="14630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14D"/>
                </a:solidFill>
              </a:rPr>
              <a:t>App Service plan (Linux)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697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F2E"/>
                </a:solidFill>
              </a:rPr>
              <a:t>Four Linux web apps: the built SPA, Gateway, Core and the AI service as .NET 10 packages.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41248" y="3355848"/>
            <a:ext cx="146304" cy="14630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14D"/>
                </a:solidFill>
              </a:rPr>
              <a:t>MySQL Flexible Server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566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F2E"/>
                </a:solidFill>
              </a:rPr>
              <a:t>Database dealer_core, TLS required, firewall limited to Azure and named operators, 7-day backups.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41248" y="4224528"/>
            <a:ext cx="146304" cy="14630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14D"/>
                </a:solidFill>
              </a:rPr>
              <a:t>Key Vault + managed identity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434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F2E"/>
                </a:solidFill>
              </a:rPr>
              <a:t>Internal token, database password, JWT signing secret, AI key and admin password — no app setting holds a secret value.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41248" y="5093208"/>
            <a:ext cx="146304" cy="14630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14D"/>
                </a:solidFill>
              </a:rPr>
              <a:t>Log Analytics + App Insights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5303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F2E"/>
                </a:solidFill>
              </a:rPr>
              <a:t>Logs and telemetry for all four services; the Gateway aggregates downstream health and release times.</a:t>
            </a:r>
            <a:endParaRPr lang="en-US" sz="1050" dirty="0"/>
          </a:p>
        </p:txBody>
      </p:sp>
      <p:sp>
        <p:nvSpPr>
          <p:cNvPr id="18" name="release"/>
          <p:cNvSpPr/>
          <p:nvPr/>
        </p:nvSpPr>
        <p:spPr>
          <a:xfrm>
            <a:off x="6245352" y="17830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6314D"/>
          </a:solidFill>
          <a:ln w="12700">
            <a:solidFill>
              <a:srgbClr val="1631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19672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One release command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19672" y="2395728"/>
            <a:ext cx="4846320" cy="438912"/>
          </a:xfrm>
          <a:prstGeom prst="roundRect">
            <a:avLst>
              <a:gd name="adj" fmla="val 12500"/>
            </a:avLst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2395728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./deploy/deploy.sh --apply --seed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19672" y="301752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Refuses to run unless the checkout matches its pushed upstream, so every build is reproducible.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Applies Terraform, publishes the three .NET apps and the SPA built against the Gateway URL, retrying each upload.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Waits for the health checks, then verifies the result through the Gateway.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--seed publishes the local demo database: it backs up the Azure rows first, imports in one transaction and restarts Core.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A backup file restores the previous data; point-in-time restore covers a 7-day window.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F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5146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PART THREE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9260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Milestone tracking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68680" y="39776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Where each planned milestone stands against the three-sprint schedule.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2"/>
                </a:solidFill>
              </a:rPr>
              <a:t>Milestones against the plan</a:t>
            </a:r>
            <a:endParaRPr lang="en-US" sz="3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Three sprints run 12 October to 13 December. Product scope is ahead of schedule; acceptance evidence is the item that is behind.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371600"/>
                <a:gridCol w="57881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Milestone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Planned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 at 23 October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Four services build independently; the two JWT roles defined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Sprint 1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Done — plus the manager and staff membership level added this sprint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Running on Azure with no secret in source control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Sprint 2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Done early — one-command release, Key Vault and managed identity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Two-dealership isolation, CRM linking, all three ad types, export, audit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Sprint 3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Done early — including gated export and finance-grade audit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Client and delivery extensions: leads, work orders, Image Studio, buyer site, payments, dashboard, roles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Extensions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Done — scope reconciled with the client on 21 October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Per-member manual acceptance walkthroughs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Sprint 1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Behind — scheduled 24–28 October, before sprint close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Jira backlog level with the delivered state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Sprint 1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Done — every previously open KAN issue closed out on 23 October; an evidence link per card is carried to Sprint 2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Research and AI logs published; instructor acknowledgement of the scope baseline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Sprint 1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Open — the NN-05 hosting decision itself is documented, corrected 19 October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Live two-dealership demo on the deployed environment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Sprint 2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F2E"/>
                          </a:solidFill>
                        </a:rPr>
                        <a:t>Rehearsal scheduled before the class demo</a:t>
                      </a:r>
                      <a:endParaRPr lang="en-US" sz="11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F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2"/>
                </a:solidFill>
              </a:rPr>
              <a:t>Quality evidence this sprint</a:t>
            </a:r>
            <a:endParaRPr lang="en-US" sz="3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A manual browser pass found defects the automated suite could not, because the existing checks read text instead of exercising the control.</a:t>
            </a:r>
            <a:endParaRPr lang="en-US" sz="1350" dirty="0"/>
          </a:p>
        </p:txBody>
      </p:sp>
      <p:sp>
        <p:nvSpPr>
          <p:cNvPr id="4" name="stat-Defects foun"/>
          <p:cNvSpPr/>
          <p:nvPr/>
        </p:nvSpPr>
        <p:spPr>
          <a:xfrm>
            <a:off x="548640" y="1783080"/>
            <a:ext cx="3547872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947672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05746"/>
                </a:solidFill>
              </a:rPr>
              <a:t>10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679192"/>
            <a:ext cx="3145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Defects found in the 20 October browser walkthrough — all fixed and re-checked the same day</a:t>
            </a:r>
            <a:endParaRPr lang="en-US" sz="1150" dirty="0"/>
          </a:p>
        </p:txBody>
      </p:sp>
      <p:sp>
        <p:nvSpPr>
          <p:cNvPr id="7" name="stat-Playwright A"/>
          <p:cNvSpPr/>
          <p:nvPr/>
        </p:nvSpPr>
        <p:spPr>
          <a:xfrm>
            <a:off x="4315968" y="1783080"/>
            <a:ext cx="3547872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17136" y="1947672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8B6F"/>
                </a:solidFill>
              </a:rPr>
              <a:t>353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4517136" y="2679192"/>
            <a:ext cx="3145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Playwright API and UI cases passing on a private stack with its own database (22 October)</a:t>
            </a:r>
            <a:endParaRPr lang="en-US" sz="1150" dirty="0"/>
          </a:p>
        </p:txBody>
      </p:sp>
      <p:sp>
        <p:nvSpPr>
          <p:cNvPr id="10" name="stat-GitHub Actio"/>
          <p:cNvSpPr/>
          <p:nvPr/>
        </p:nvSpPr>
        <p:spPr>
          <a:xfrm>
            <a:off x="8092440" y="1783080"/>
            <a:ext cx="3547872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93608" y="1947672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6F95"/>
                </a:solidFill>
              </a:rPr>
              <a:t>5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8293608" y="2679192"/>
            <a:ext cx="3145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GitHub Actions workflows building every service and validating Terraform on each pull request</a:t>
            </a:r>
            <a:endParaRPr lang="en-US" sz="1150" dirty="0"/>
          </a:p>
        </p:txBody>
      </p:sp>
      <p:sp>
        <p:nvSpPr>
          <p:cNvPr id="13" name="quality-lesson"/>
          <p:cNvSpPr/>
          <p:nvPr/>
        </p:nvSpPr>
        <p:spPr>
          <a:xfrm>
            <a:off x="548640" y="3749040"/>
            <a:ext cx="11091672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14D"/>
                </a:solidFill>
              </a:rPr>
              <a:t>What the defect cycle taught us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315968"/>
            <a:ext cx="10469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F2E"/>
                </a:solidFill>
              </a:rPr>
              <a:t>One defect made an admin control unclickable, yet the existing specs passed because they only read its label text. Coverage that asserts text rather than interaction gives false confidence.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F2E"/>
                </a:solidFill>
              </a:rPr>
              <a:t>A rule change was bumping the edit version of every ad, so a user with an ad open hit a conflict nobody had caused. Found only by having two screens open at once.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F2E"/>
                </a:solidFill>
              </a:rPr>
              <a:t>Both are now part of the walkthrough script, which is what the remaining acceptance work follows.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F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2"/>
                </a:solidFill>
              </a:rPr>
              <a:t>What we will demonstrate live</a:t>
            </a:r>
            <a:endParaRPr lang="en-US" sz="3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Six acceptance scripts, run on two dealerships with real demo data. Feature code is complete, so this is a finished build rather than a partial prototype.</a:t>
            </a:r>
            <a:endParaRPr lang="en-US" sz="1350" dirty="0"/>
          </a:p>
        </p:txBody>
      </p:sp>
      <p:sp>
        <p:nvSpPr>
          <p:cNvPr id="4" name="demo-0"/>
          <p:cNvSpPr/>
          <p:nvPr/>
        </p:nvSpPr>
        <p:spPr>
          <a:xfrm>
            <a:off x="548640" y="1755648"/>
            <a:ext cx="54406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66544"/>
            <a:ext cx="512064" cy="512064"/>
          </a:xfrm>
          <a:prstGeom prst="ellipse">
            <a:avLst/>
          </a:prstGeom>
          <a:solidFill>
            <a:srgbClr val="16314D"/>
          </a:solidFill>
          <a:ln w="12700">
            <a:solidFill>
              <a:srgbClr val="1631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066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2024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F1F2E"/>
                </a:solidFill>
              </a:rPr>
              <a:t>The admin opens two dealerships and binds one person to each.</a:t>
            </a:r>
            <a:endParaRPr lang="en-US" sz="1250" dirty="0"/>
          </a:p>
        </p:txBody>
      </p:sp>
      <p:sp>
        <p:nvSpPr>
          <p:cNvPr id="8" name="demo-1"/>
          <p:cNvSpPr/>
          <p:nvPr/>
        </p:nvSpPr>
        <p:spPr>
          <a:xfrm>
            <a:off x="6199632" y="1755648"/>
            <a:ext cx="54406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55664" y="2066544"/>
            <a:ext cx="512064" cy="512064"/>
          </a:xfrm>
          <a:prstGeom prst="ellipse">
            <a:avLst/>
          </a:prstGeom>
          <a:solidFill>
            <a:srgbClr val="16314D"/>
          </a:solidFill>
          <a:ln w="12700">
            <a:solidFill>
              <a:srgbClr val="1631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55664" y="2066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59752" y="192024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F1F2E"/>
                </a:solidFill>
              </a:rPr>
              <a:t>Dealership A records a vehicle and a customer and links them; dealership B cannot see either.</a:t>
            </a:r>
            <a:endParaRPr lang="en-US" sz="1250" dirty="0"/>
          </a:p>
        </p:txBody>
      </p:sp>
      <p:sp>
        <p:nvSpPr>
          <p:cNvPr id="12" name="demo-2"/>
          <p:cNvSpPr/>
          <p:nvPr/>
        </p:nvSpPr>
        <p:spPr>
          <a:xfrm>
            <a:off x="548640" y="3054096"/>
            <a:ext cx="54406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3364992"/>
            <a:ext cx="512064" cy="512064"/>
          </a:xfrm>
          <a:prstGeom prst="ellipse">
            <a:avLst/>
          </a:prstGeom>
          <a:solidFill>
            <a:srgbClr val="16314D"/>
          </a:solidFill>
          <a:ln w="12700">
            <a:solidFill>
              <a:srgbClr val="1631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3364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218688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F1F2E"/>
                </a:solidFill>
              </a:rPr>
              <a:t>The admin calling the vehicle API is rejected.</a:t>
            </a:r>
            <a:endParaRPr lang="en-US" sz="1250" dirty="0"/>
          </a:p>
        </p:txBody>
      </p:sp>
      <p:sp>
        <p:nvSpPr>
          <p:cNvPr id="16" name="demo-3"/>
          <p:cNvSpPr/>
          <p:nvPr/>
        </p:nvSpPr>
        <p:spPr>
          <a:xfrm>
            <a:off x="6199632" y="3054096"/>
            <a:ext cx="54406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55664" y="3364992"/>
            <a:ext cx="512064" cy="512064"/>
          </a:xfrm>
          <a:prstGeom prst="ellipse">
            <a:avLst/>
          </a:prstGeom>
          <a:solidFill>
            <a:srgbClr val="16314D"/>
          </a:solidFill>
          <a:ln w="12700">
            <a:solidFill>
              <a:srgbClr val="16314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55664" y="3364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159752" y="3218688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F1F2E"/>
                </a:solidFill>
              </a:rPr>
              <a:t>A missing price, and a finance ad without APR, are blocked without calling the AI.</a:t>
            </a:r>
            <a:endParaRPr lang="en-US" sz="1250" dirty="0"/>
          </a:p>
        </p:txBody>
      </p:sp>
      <p:sp>
        <p:nvSpPr>
          <p:cNvPr id="20" name="demo-4"/>
          <p:cNvSpPr/>
          <p:nvPr/>
        </p:nvSpPr>
        <p:spPr>
          <a:xfrm>
            <a:off x="548640" y="4352544"/>
            <a:ext cx="54406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663440"/>
            <a:ext cx="512064" cy="512064"/>
          </a:xfrm>
          <a:prstGeom prst="ellipse">
            <a:avLst/>
          </a:prstGeom>
          <a:solidFill>
            <a:srgbClr val="16314D"/>
          </a:solidFill>
          <a:ln w="12700">
            <a:solidFill>
              <a:srgbClr val="16314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4663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4517136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F1F2E"/>
                </a:solidFill>
              </a:rPr>
              <a:t>Real ad text goes through a real AI model once, and the missing items are identified.</a:t>
            </a:r>
            <a:endParaRPr lang="en-US" sz="1250" dirty="0"/>
          </a:p>
        </p:txBody>
      </p:sp>
      <p:sp>
        <p:nvSpPr>
          <p:cNvPr id="24" name="demo-5"/>
          <p:cNvSpPr/>
          <p:nvPr/>
        </p:nvSpPr>
        <p:spPr>
          <a:xfrm>
            <a:off x="6199632" y="4352544"/>
            <a:ext cx="54406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55664" y="4663440"/>
            <a:ext cx="512064" cy="512064"/>
          </a:xfrm>
          <a:prstGeom prst="ellipse">
            <a:avLst/>
          </a:prstGeom>
          <a:solidFill>
            <a:srgbClr val="16314D"/>
          </a:solidFill>
          <a:ln w="12700">
            <a:solidFill>
              <a:srgbClr val="16314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55664" y="4663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159752" y="4517136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F1F2E"/>
                </a:solidFill>
              </a:rPr>
              <a:t>After a price change the old check cannot be used to export, and the vehicle leaves the buyer site.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68756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F93"/>
                </a:solidFill>
              </a:rPr>
              <a:t>Plus the extension flow end to end: write an ad, check it, mark it ready, find it on the public buyer site, send an inquiry that becomes a lead, then sell the vehicle and watch it leave the site.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F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2"/>
                </a:solidFill>
              </a:rPr>
              <a:t>Limitations and what Sprint 2 carries</a:t>
            </a:r>
            <a:endParaRPr lang="en-US" sz="3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Where a feature needs a commercial agreement we do not have, the system offers a labelled alternative and says so on screen.</a:t>
            </a:r>
            <a:endParaRPr lang="en-US" sz="1350" dirty="0"/>
          </a:p>
        </p:txBody>
      </p:sp>
      <p:sp>
        <p:nvSpPr>
          <p:cNvPr id="4" name="limits"/>
          <p:cNvSpPr/>
          <p:nvPr/>
        </p:nvSpPr>
        <p:spPr>
          <a:xfrm>
            <a:off x="548640" y="1783080"/>
            <a:ext cx="5504688" cy="4160520"/>
          </a:xfrm>
          <a:prstGeom prst="roundRect">
            <a:avLst>
              <a:gd name="adj" fmla="val 17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3852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14D"/>
                </a:solidFill>
              </a:rPr>
              <a:t>Stated limitations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14D"/>
                </a:solidFill>
              </a:rPr>
              <a:t>Marketplace publishing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1518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F2E"/>
                </a:solidFill>
              </a:rPr>
              <a:t>Simulated and labelled — needs a partner agreement and dealer API credentials. The buyer site is the real public channel.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9067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14D"/>
                </a:solidFill>
              </a:rPr>
              <a:t>Card payment processing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2841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F2E"/>
                </a:solidFill>
              </a:rPr>
              <a:t>Not built — needs a merchant account and PCI scope. The ledger records payments taken at the dealership.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80390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14D"/>
                </a:solidFill>
              </a:rPr>
              <a:t>Document OCR, message queue, second database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0416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F2E"/>
                </a:solidFill>
              </a:rPr>
              <a:t>Not built — no requirement needs them, and each adds failure modes.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51713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14D"/>
                </a:solidFill>
              </a:rPr>
              <a:t>Bill of sale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754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F2E"/>
                </a:solidFill>
              </a:rPr>
              <a:t>A printable template, not a lawyer-reviewed contract.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23036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14D"/>
                </a:solidFill>
              </a:rPr>
              <a:t>Production deployment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4681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F2E"/>
                </a:solidFill>
              </a:rPr>
              <a:t>CI builds and validates; the release is run by an operator because CI holds no Azure credential.</a:t>
            </a:r>
            <a:endParaRPr lang="en-US" sz="1050" dirty="0"/>
          </a:p>
        </p:txBody>
      </p:sp>
      <p:sp>
        <p:nvSpPr>
          <p:cNvPr id="16" name="next"/>
          <p:cNvSpPr/>
          <p:nvPr/>
        </p:nvSpPr>
        <p:spPr>
          <a:xfrm>
            <a:off x="6245352" y="178308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16314D"/>
          </a:solidFill>
          <a:ln w="12700">
            <a:solidFill>
              <a:srgbClr val="1631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19672" y="19385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Sprint 2 — a hardening sprint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19672" y="2395728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Ownership by area rather than by hours: each member takes a defect-hunting and interface-review area and merges their own fixes.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Interface refinement against one written checklist — link style, icons, theme colours, empty states, error wording, loading and disabled states.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Requirement evidence mirrored onto the Jira board, not only the repository.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Actual dates and hours recorded weekly instead of at sprint close.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Research log and AI log published; scope baseline and NN-05 confirmed.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Live demo rehearsed on the deployed environment with the two-dealership data set.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F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Questions, then the live demo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68680" y="352044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2A541"/>
                </a:solidFill>
              </a:rPr>
              <a:t>Where the detail lives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Scope and errata — design/SCOPE-BASELINE.md    ·    Requirement IDs — requirements/DealerOps-Requirements.md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Architecture — design/07-Azure-Microservices-Architecture.md    ·    API contract — design/14-Backend-API-Contract.md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Acceptance — design/16-Acceptance-and-Test.md    ·    Deployment — deploy/README.md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Full system design briefing — design/presentation/DealerOps-System-Design.html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 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B7F93"/>
                </a:solidFill>
              </a:rPr>
              <a:t>DealerOps  ·  Capstone Group 2 (Team G2)  ·  Sprint 1 review, 2026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alerOps">
  <a:themeElements>
    <a:clrScheme name="DealerOps">
      <a:dk1>
        <a:srgbClr val="0F1F2E"/>
      </a:dk1>
      <a:lt1>
        <a:srgbClr val="FFFFFF"/>
      </a:lt1>
      <a:dk2>
        <a:srgbClr val="16314D"/>
      </a:dk2>
      <a:lt2>
        <a:srgbClr val="EEF2F6"/>
      </a:lt2>
      <a:accent1>
        <a:srgbClr val="2E6F95"/>
      </a:accent1>
      <a:accent2>
        <a:srgbClr val="F2A541"/>
      </a:accent2>
      <a:accent3>
        <a:srgbClr val="2E8B6F"/>
      </a:accent3>
      <a:accent4>
        <a:srgbClr val="C05746"/>
      </a:accent4>
      <a:accent5>
        <a:srgbClr val="6B7F93"/>
      </a:accent5>
      <a:accent6>
        <a:srgbClr val="0F1F2E"/>
      </a:accent6>
      <a:hlink>
        <a:srgbClr val="2E6F95"/>
      </a:hlink>
      <a:folHlink>
        <a:srgbClr val="6B7F93"/>
      </a:folHlink>
    </a:clrScheme>
    <a:fontScheme name="DealerOp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DealerOps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DealerOps Status Report 2 - Sprint 1</dc:title>
  <dc:subject>PptxGenJS Presentation</dc:subject>
  <dc:creator>Team G2</dc:creator>
  <cp:lastModifiedBy>Team G2</cp:lastModifiedBy>
  <cp:revision>1</cp:revision>
  <dcterms:created xsi:type="dcterms:W3CDTF">2026-10-23T22:51:44Z</dcterms:created>
  <dcterms:modified xsi:type="dcterms:W3CDTF">2026-10-23T22:51:44Z</dcterms:modified>
</cp:coreProperties>
</file>