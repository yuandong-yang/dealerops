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Open Sans Bold"/>
      <p:regular r:id="rId201314"/>
    </p:embeddedFont>
    <p:embeddedFont>
      <p:font typeface="Open Sans"/>
      <p:regular r:id="rId201315"/>
    </p:embeddedFont>
    <p:embeddedFont>
      <p:font typeface="Open Sans SemiBold"/>
      <p:regular r:id="rId201316"/>
    </p:embeddedFont>
    <p:embeddedFont>
      <p:font typeface="Unbounded"/>
      <p:regular r:id="rId201317"/>
    </p:embeddedFont>
    <p:embeddedFont>
      <p:font typeface="Unbounded Bold"/>
      <p:regular r:id="rId201318"/>
    </p:embeddedFont>
    <p:embeddedFont>
      <p:font typeface="Unbounded Black"/>
      <p:regular r:id="rId201319"/>
    </p:embeddedFont>
    <p:embeddedFont>
      <p:font typeface="Unbounded Semi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2.png"/><Relationship Id="rId11" Type="http://schemas.openxmlformats.org/officeDocument/2006/relationships/image" Target="../media/image-3-3.sv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3-1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9" Type="http://schemas.openxmlformats.org/officeDocument/2006/relationships/image" Target="../media/image-7-9.jpe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2.png"/><Relationship Id="rId9" Type="http://schemas.openxmlformats.org/officeDocument/2006/relationships/image" Target="../media/image-8-3.svg"/><Relationship Id="rId10" Type="http://schemas.openxmlformats.org/officeDocument/2006/relationships/image" Target="../media/image-8-2.png"/><Relationship Id="rId11" Type="http://schemas.openxmlformats.org/officeDocument/2006/relationships/image" Target="../media/image-8-3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659930"/>
            <a:ext cx="4748491" cy="287139"/>
          </a:xfrm>
          <a:prstGeom prst="roundRect">
            <a:avLst>
              <a:gd name="adj" fmla="val 22118"/>
            </a:avLst>
          </a:prstGeom>
          <a:solidFill>
            <a:srgbClr val="D6F5EE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1716584"/>
            <a:ext cx="513126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 309-SD · SOFTWARE DEVELOPMENT CAPSTONE · FALL 2026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0226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Non-Negotiable Project Requirements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4078089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project must demonstrate all six of these pillars. They are graded — and they are mandatory.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Olusola Akinbode · SAIT · School of Advanced Digital Technology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3497"/>
            <a:ext cx="1156862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26A6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730151"/>
            <a:ext cx="153963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 A GLANCE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3624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Six Requirements. Every Project. No Exceptions.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501007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6832" y="269636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DF8F2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01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Microservices Over Monolith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3105051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 independent, separately deployable services.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0301" y="2501007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5658" y="2696369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DF8F2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02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Cloud &amp; Cloud-Native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85658" y="3105051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on public cloud. Containerized. CI/CD enforced.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3791843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6832" y="3987205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DF8F2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03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Security by Design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56832" y="4395887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Auth, encryption, RBAC.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90301" y="3791843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5658" y="3987205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DF8F2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04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Requirements &amp; Full Scope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385658" y="4395887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 what was approved. Every feature. Tested.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5082679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6832" y="527804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DF8F2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05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AI Workflows Integrated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856832" y="5686723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Functional AI as a core product feature — not a stub.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90301" y="5082679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5658" y="5278041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DDF8F2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06</a:t>
            </a:r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Project Mgmt &amp; Participation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385658" y="5686723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Agile process. Every member visible and accountable.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775494"/>
            <a:ext cx="1036016" cy="201116"/>
          </a:xfrm>
          <a:prstGeom prst="roundRect">
            <a:avLst>
              <a:gd name="adj" fmla="val 22105"/>
            </a:avLst>
          </a:prstGeom>
          <a:solidFill>
            <a:srgbClr val="D6F5EE"/>
          </a:solidFill>
          <a:ln/>
        </p:spPr>
      </p:sp>
      <p:sp>
        <p:nvSpPr>
          <p:cNvPr id="4" name="Text 1"/>
          <p:cNvSpPr/>
          <p:nvPr/>
        </p:nvSpPr>
        <p:spPr>
          <a:xfrm>
            <a:off x="5312733" y="815181"/>
            <a:ext cx="1486855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REQUIREMENT 01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233360" y="1013619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Microservices Over Monolith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233360" y="1565970"/>
            <a:ext cx="6906444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 for independence and scale.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954312"/>
            <a:ext cx="2987104" cy="13484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60863" y="2105620"/>
            <a:ext cx="2608296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Separate Deployable Services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60863" y="2611537"/>
            <a:ext cx="260829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domain — auth, data, UI, AI — must be its own independently deployable service.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395365"/>
            <a:ext cx="2987104" cy="134848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60863" y="3546673"/>
            <a:ext cx="2608296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API-Driven Communication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460863" y="4052590"/>
            <a:ext cx="260829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Services communicate via REST APIs or message queues. Direct coupling is not permitted.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836418"/>
            <a:ext cx="2987104" cy="114180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60863" y="4987727"/>
            <a:ext cx="260829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Own Repo &amp; Pipeline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5460863" y="5286970"/>
            <a:ext cx="260829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microservice requires its own repository, CI/CD pipeline, and designated ownership.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49466" y="1954312"/>
            <a:ext cx="2987104" cy="116849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776969" y="2105620"/>
            <a:ext cx="2608296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API Gateway or Service Mesh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8776969" y="2611537"/>
            <a:ext cx="2608296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an API Gateway or service mesh to manage and route all inter-service traffic.</a:t>
            </a:r>
            <a:endParaRPr lang="en-US" sz="10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49466" y="3215382"/>
            <a:ext cx="2987104" cy="134848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776969" y="3366691"/>
            <a:ext cx="2608296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Architectural Diagram Required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8776969" y="3872607"/>
            <a:ext cx="2608296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clear diagram showing service boundaries is mandatory — not optional documentation.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8549466" y="4668044"/>
            <a:ext cx="2987104" cy="772716"/>
          </a:xfrm>
          <a:prstGeom prst="roundRect">
            <a:avLst>
              <a:gd name="adj" fmla="val 7192"/>
            </a:avLst>
          </a:prstGeom>
          <a:solidFill>
            <a:srgbClr val="FCF2B5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1721" y="4817566"/>
            <a:ext cx="165294" cy="132259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979271" y="4784427"/>
            <a:ext cx="2425044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Sprint 1 review: Architecture diagram &amp; justification required. No monolith will be approved.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51880"/>
            <a:ext cx="1036016" cy="201116"/>
          </a:xfrm>
          <a:prstGeom prst="roundRect">
            <a:avLst>
              <a:gd name="adj" fmla="val 22105"/>
            </a:avLst>
          </a:prstGeom>
          <a:solidFill>
            <a:srgbClr val="D6F5EE"/>
          </a:solidFill>
          <a:ln/>
        </p:spPr>
      </p:sp>
      <p:sp>
        <p:nvSpPr>
          <p:cNvPr id="3" name="Text 1"/>
          <p:cNvSpPr/>
          <p:nvPr/>
        </p:nvSpPr>
        <p:spPr>
          <a:xfrm>
            <a:off x="740848" y="791567"/>
            <a:ext cx="1486855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REQUIREMENT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99000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Cloud &amp; Cloud-Native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542355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for the cloud — not just deployed to it.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238" y="2592784"/>
            <a:ext cx="4866161" cy="274697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42163" y="1930698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91771" y="1955502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332381" y="1976140"/>
            <a:ext cx="320409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Live Cloud Deployment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332381" y="2275384"/>
            <a:ext cx="320409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must be deployed and running on a public cloud platform. Azure is preferred.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942163" y="2820591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91771" y="2845395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332381" y="2866033"/>
            <a:ext cx="320409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Containerization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332381" y="3165277"/>
            <a:ext cx="320409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Docker for packaging; Kubernetes or Azure Container Apps for orchestration.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942163" y="3710484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91771" y="3735288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332381" y="3755926"/>
            <a:ext cx="320409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Infrastructure as Code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32381" y="4055170"/>
            <a:ext cx="320409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Bicep, Terraform, or ARM templates. Manual provisioning is not acceptable.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42163" y="4600377"/>
            <a:ext cx="297649" cy="297656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91771" y="4625181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8332381" y="4645819"/>
            <a:ext cx="320409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CI/CD Pipeline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332381" y="4945063"/>
            <a:ext cx="320409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pipeline required end-to-end. No manual deployments to production — ever.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942163" y="5409208"/>
            <a:ext cx="3594308" cy="592733"/>
          </a:xfrm>
          <a:prstGeom prst="roundRect">
            <a:avLst>
              <a:gd name="adj" fmla="val 9375"/>
            </a:avLst>
          </a:prstGeom>
          <a:solidFill>
            <a:srgbClr val="FCF2B5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418" y="5558730"/>
            <a:ext cx="165294" cy="132259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371968" y="5525591"/>
            <a:ext cx="3032248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sprint demos must run live on cloud. Local-only demos will not be accepted.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25574"/>
            <a:ext cx="1332276" cy="258465"/>
          </a:xfrm>
          <a:prstGeom prst="roundRect">
            <a:avLst>
              <a:gd name="adj" fmla="val 22115"/>
            </a:avLst>
          </a:prstGeom>
          <a:solidFill>
            <a:srgbClr val="D6F5EE"/>
          </a:solidFill>
          <a:ln/>
        </p:spPr>
      </p:sp>
      <p:sp>
        <p:nvSpPr>
          <p:cNvPr id="3" name="Text 1"/>
          <p:cNvSpPr/>
          <p:nvPr/>
        </p:nvSpPr>
        <p:spPr>
          <a:xfrm>
            <a:off x="763469" y="676573"/>
            <a:ext cx="1737872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REQUIREMENT 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94525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Security by Design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5" y="1706463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is not an afterthought — it is architecture.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37271"/>
            <a:ext cx="425241" cy="4252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2753816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Authentication &amp; Authorization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61475" y="3111302"/>
            <a:ext cx="533872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OAuth 2.0, JWT, or Azure AD only. No homebrew authentication solutions permitted.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1492" y="2137271"/>
            <a:ext cx="425241" cy="4252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91492" y="2753816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Encryption Everywhere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191492" y="3111302"/>
            <a:ext cx="533872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HTTPS/TLS for all data in transit. Data at rest must be encrypted without exception.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34619"/>
            <a:ext cx="425241" cy="4252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1475" y="4551164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No Hardcoded Credentials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661475" y="4908649"/>
            <a:ext cx="533872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Azure Key Vault, environment secrets, or managed identities for all sensitive config.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1492" y="3934619"/>
            <a:ext cx="425241" cy="4252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91492" y="4551164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RBAC Implementation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6191492" y="4908649"/>
            <a:ext cx="533872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Role-based access control must be implemented across all user-facing features and endpoints.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61475" y="5598021"/>
            <a:ext cx="10868745" cy="634305"/>
          </a:xfrm>
          <a:prstGeom prst="roundRect">
            <a:avLst>
              <a:gd name="adj" fmla="val 11264"/>
            </a:avLst>
          </a:prstGeom>
          <a:solidFill>
            <a:srgbClr val="FFB3B4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532" y="5816203"/>
            <a:ext cx="212620" cy="17006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14209" y="5793581"/>
            <a:ext cx="1075554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checklist reviewed at Sprint 2 &amp; 3. Exposed credentials = automatic sprint failure.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563860"/>
            <a:ext cx="1093066" cy="211832"/>
          </a:xfrm>
          <a:prstGeom prst="roundRect">
            <a:avLst>
              <a:gd name="adj" fmla="val 22135"/>
            </a:avLst>
          </a:prstGeom>
          <a:solidFill>
            <a:srgbClr val="D6F5EE"/>
          </a:solidFill>
          <a:ln/>
        </p:spPr>
      </p:sp>
      <p:sp>
        <p:nvSpPr>
          <p:cNvPr id="4" name="Text 1"/>
          <p:cNvSpPr/>
          <p:nvPr/>
        </p:nvSpPr>
        <p:spPr>
          <a:xfrm>
            <a:off x="5317000" y="605631"/>
            <a:ext cx="153537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REQUIREMENT 04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233360" y="816868"/>
            <a:ext cx="6296860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Requirements &amp; Full Scope Delivery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233360" y="1843484"/>
            <a:ext cx="6906444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was promised must be delivered.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233360" y="2153444"/>
            <a:ext cx="6296860" cy="959644"/>
          </a:xfrm>
          <a:prstGeom prst="roundRect">
            <a:avLst>
              <a:gd name="adj" fmla="val 6108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79208" y="2299295"/>
            <a:ext cx="600516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Full Feature Implementation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379208" y="2579092"/>
            <a:ext cx="6005164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feature from the approved scope must be implemented and demonstrated. No exceptions.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233360" y="3216077"/>
            <a:ext cx="6296860" cy="765572"/>
          </a:xfrm>
          <a:prstGeom prst="roundRect">
            <a:avLst>
              <a:gd name="adj" fmla="val 7656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79208" y="3361928"/>
            <a:ext cx="600516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Traceable Requirements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379208" y="3641725"/>
            <a:ext cx="6005164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feature must map to a user story or acceptance criterion. Traceability is graded.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233360" y="4084638"/>
            <a:ext cx="6296860" cy="765572"/>
          </a:xfrm>
          <a:prstGeom prst="roundRect">
            <a:avLst>
              <a:gd name="adj" fmla="val 7656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79208" y="4230489"/>
            <a:ext cx="600516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Scope Changes Require Approval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379208" y="4510286"/>
            <a:ext cx="6005164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Silent scope reduction is not permitted. Any change requires written instructor sign-off.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233360" y="4953198"/>
            <a:ext cx="6296860" cy="765572"/>
          </a:xfrm>
          <a:prstGeom prst="roundRect">
            <a:avLst>
              <a:gd name="adj" fmla="val 7656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79208" y="5099050"/>
            <a:ext cx="600516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Client Validation &amp; Testing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379208" y="5378847"/>
            <a:ext cx="6005164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client must validate delivery. Critical paths require unit and integration test coverage.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233360" y="5834658"/>
            <a:ext cx="6296860" cy="459383"/>
          </a:xfrm>
          <a:prstGeom prst="roundRect">
            <a:avLst>
              <a:gd name="adj" fmla="val 12759"/>
            </a:avLst>
          </a:prstGeom>
          <a:solidFill>
            <a:srgbClr val="D6F5EE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859" y="5983684"/>
            <a:ext cx="174422" cy="13950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686779" y="5972473"/>
            <a:ext cx="6313528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scope verified at Sprint 3 and Final Showcase. Partial delivery = partial grade.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53765"/>
            <a:ext cx="1110627" cy="215305"/>
          </a:xfrm>
          <a:prstGeom prst="roundRect">
            <a:avLst>
              <a:gd name="adj" fmla="val 22123"/>
            </a:avLst>
          </a:prstGeom>
          <a:solidFill>
            <a:srgbClr val="D6F5EE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796230"/>
            <a:ext cx="155015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REQUIREMENT 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1011535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AI Workflows Integrated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613991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must be functional — not decorative.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556" y="2055912"/>
            <a:ext cx="212620" cy="2126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2037" y="2051546"/>
            <a:ext cx="31186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Core Feature — Not a Stub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22037" y="2379266"/>
            <a:ext cx="311866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must be a working, central part of the product. Placeholder implementations will not pass.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556" y="3191570"/>
            <a:ext cx="212620" cy="2126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22037" y="3187204"/>
            <a:ext cx="31186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Accepted Integrations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22037" y="3514923"/>
            <a:ext cx="311866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RAG pipelines, NLP classification, recommendation engines, intelligent search, or generative responses.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556" y="4327227"/>
            <a:ext cx="212620" cy="2126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22037" y="4322862"/>
            <a:ext cx="31186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Production-Grade Services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122037" y="4650581"/>
            <a:ext cx="31186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Azure OpenAI, HuggingFace endpoints, or equivalent. Toy models are not sufficient.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4556" y="5264448"/>
            <a:ext cx="212620" cy="2126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22037" y="5260082"/>
            <a:ext cx="31186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Documented End-to-End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1122037" y="5587802"/>
            <a:ext cx="31186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 model choices, prompts, data flow, and fallback strategies in your project artifacts.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60863" y="2275086"/>
            <a:ext cx="5207663" cy="2905919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592919" y="5300563"/>
            <a:ext cx="6943551" cy="460573"/>
          </a:xfrm>
          <a:prstGeom prst="roundRect">
            <a:avLst>
              <a:gd name="adj" fmla="val 12928"/>
            </a:avLst>
          </a:prstGeom>
          <a:solidFill>
            <a:srgbClr val="FCF2B5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4600" y="5470624"/>
            <a:ext cx="177200" cy="14168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053481" y="5431631"/>
            <a:ext cx="695089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AI demo required at Sprint 2+. Must work with real inputs — no scripted demos.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4867"/>
            <a:ext cx="962001" cy="186630"/>
          </a:xfrm>
          <a:prstGeom prst="roundRect">
            <a:avLst>
              <a:gd name="adj" fmla="val 22119"/>
            </a:avLst>
          </a:prstGeom>
          <a:solidFill>
            <a:srgbClr val="D6F5EE"/>
          </a:solidFill>
          <a:ln/>
        </p:spPr>
      </p:sp>
      <p:sp>
        <p:nvSpPr>
          <p:cNvPr id="3" name="Text 1"/>
          <p:cNvSpPr/>
          <p:nvPr/>
        </p:nvSpPr>
        <p:spPr>
          <a:xfrm>
            <a:off x="735093" y="561677"/>
            <a:ext cx="1424349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REQUIREMENT 06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743347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Project Management &amp; Team Participation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247080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Everyone contributes. Everyone is accountable.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454" y="2219523"/>
            <a:ext cx="4523766" cy="339288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7181" y="1588790"/>
            <a:ext cx="3609289" cy="8670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13510" y="1724323"/>
            <a:ext cx="328743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Agile Methodology Required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113510" y="1996083"/>
            <a:ext cx="3287432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Scrum or Kanban with sprint planning, standups, and retrospectives — fully documented.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27181" y="2535634"/>
            <a:ext cx="3609289" cy="8670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13510" y="2671167"/>
            <a:ext cx="328743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Every Member Must Present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113510" y="2942927"/>
            <a:ext cx="3287432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three sprint technical reviews require every team member to present. No silent members.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27181" y="3482479"/>
            <a:ext cx="3609289" cy="8670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13510" y="3618012"/>
            <a:ext cx="328743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Weekly Progress Reports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113510" y="3889772"/>
            <a:ext cx="3287432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1–2 paragraph progress report is submitted at the end of every 3-hour class session.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27181" y="4429323"/>
            <a:ext cx="3609289" cy="86707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113510" y="4564856"/>
            <a:ext cx="328743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Client Meetings Documented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8113510" y="4836616"/>
            <a:ext cx="3287432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Weekly or biweekly client meetings are required. Notes and action items must be on record.</a:t>
            </a:r>
            <a:endParaRPr lang="en-US" sz="9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27181" y="5376168"/>
            <a:ext cx="3609289" cy="86707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113510" y="5511701"/>
            <a:ext cx="328743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Individual Grades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8113510" y="5783461"/>
            <a:ext cx="3287432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individual grade reflects your participation, contributions, and peer assessment results.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2026-09-08T18:27:51Z</dcterms:created>
  <dcterms:modified xsi:type="dcterms:W3CDTF">2026-09-08T18:27:51Z</dcterms:modified>
</cp:coreProperties>
</file>